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4525" r:id="rId3"/>
    <p:sldId id="8724" r:id="rId4"/>
    <p:sldId id="8725" r:id="rId5"/>
    <p:sldId id="8726" r:id="rId6"/>
    <p:sldId id="8727" r:id="rId7"/>
    <p:sldId id="8728" r:id="rId8"/>
    <p:sldId id="8729" r:id="rId9"/>
    <p:sldId id="8730" r:id="rId10"/>
    <p:sldId id="8731" r:id="rId11"/>
    <p:sldId id="8732" r:id="rId12"/>
    <p:sldId id="8733" r:id="rId13"/>
    <p:sldId id="8734" r:id="rId14"/>
    <p:sldId id="873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8484"/>
    <a:srgbClr val="D0E0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5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8A386-3D69-4475-B750-E62E426689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E3FF06-4965-42B9-A9BE-3F2E22FC0B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1.jpeg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1.jpe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image" Target="../media/image2.png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image" Target="../media/image2.png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image" Target="../media/image3.png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image" Target="../media/image3.png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2185493" y="212104"/>
            <a:ext cx="48380" cy="6544298"/>
            <a:chOff x="5972629" y="97971"/>
            <a:chExt cx="36285" cy="4908224"/>
          </a:xfrm>
        </p:grpSpPr>
        <p:cxnSp>
          <p:nvCxnSpPr>
            <p:cNvPr id="12" name="直接连接符 11"/>
            <p:cNvCxnSpPr/>
            <p:nvPr>
              <p:custDataLst>
                <p:tags r:id="rId5"/>
              </p:custDataLst>
            </p:nvPr>
          </p:nvCxnSpPr>
          <p:spPr>
            <a:xfrm>
              <a:off x="5972629" y="97971"/>
              <a:ext cx="0" cy="6006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6"/>
              </p:custDataLst>
            </p:nvPr>
          </p:nvCxnSpPr>
          <p:spPr>
            <a:xfrm>
              <a:off x="6008914" y="3993502"/>
              <a:ext cx="0" cy="10126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7"/>
            </p:custDataLst>
          </p:nvPr>
        </p:nvSpPr>
        <p:spPr>
          <a:xfrm>
            <a:off x="1631936" y="1219424"/>
            <a:ext cx="1107114" cy="3975250"/>
          </a:xfrm>
        </p:spPr>
        <p:txBody>
          <a:bodyPr vert="eaVert" lIns="90000" tIns="46800" rIns="90000" bIns="46800" anchor="ctr" anchorCtr="0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8"/>
            </p:custDataLst>
          </p:nvPr>
        </p:nvSpPr>
        <p:spPr>
          <a:xfrm>
            <a:off x="2800607" y="3866360"/>
            <a:ext cx="542666" cy="2899171"/>
          </a:xfrm>
        </p:spPr>
        <p:txBody>
          <a:bodyPr vert="eaVert" lIns="90000" tIns="46800" rIns="90000" bIns="46800" anchor="ctr" anchorCtr="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36525" tIns="136525" rIns="136525" bIns="136525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36525" tIns="136525" rIns="136525" bIns="136525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964837" y="2679700"/>
            <a:ext cx="3419963" cy="7493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1964832" y="3509645"/>
            <a:ext cx="3419963" cy="1252855"/>
          </a:xfrm>
        </p:spPr>
        <p:txBody>
          <a:bodyPr lIns="90000" tIns="46800" rIns="90000" bIns="46800" anchor="t" anchorCtr="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49605" y="2787650"/>
            <a:ext cx="4749165" cy="118745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1566226" y="6096000"/>
            <a:ext cx="517824" cy="660755"/>
            <a:chOff x="11673326" y="6232662"/>
            <a:chExt cx="410724" cy="524093"/>
          </a:xfrm>
        </p:grpSpPr>
        <p:sp>
          <p:nvSpPr>
            <p:cNvPr id="7" name="椭圆 6"/>
            <p:cNvSpPr/>
            <p:nvPr>
              <p:custDataLst>
                <p:tags r:id="rId3"/>
              </p:custDataLst>
            </p:nvPr>
          </p:nvSpPr>
          <p:spPr>
            <a:xfrm>
              <a:off x="11819376" y="6492081"/>
              <a:ext cx="264674" cy="264674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accent1"/>
                  </a:solidFill>
                </a:ln>
              </a:endParaRPr>
            </a:p>
          </p:txBody>
        </p:sp>
        <p:sp>
          <p:nvSpPr>
            <p:cNvPr id="8" name="椭圆 7"/>
            <p:cNvSpPr/>
            <p:nvPr>
              <p:custDataLst>
                <p:tags r:id="rId4"/>
              </p:custDataLst>
            </p:nvPr>
          </p:nvSpPr>
          <p:spPr>
            <a:xfrm>
              <a:off x="11912600" y="6232662"/>
              <a:ext cx="146050" cy="14605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accent1"/>
                  </a:solidFill>
                </a:ln>
              </a:endParaRPr>
            </a:p>
          </p:txBody>
        </p:sp>
        <p:sp>
          <p:nvSpPr>
            <p:cNvPr id="9" name="椭圆 8"/>
            <p:cNvSpPr/>
            <p:nvPr>
              <p:custDataLst>
                <p:tags r:id="rId5"/>
              </p:custDataLst>
            </p:nvPr>
          </p:nvSpPr>
          <p:spPr>
            <a:xfrm>
              <a:off x="11673326" y="6362700"/>
              <a:ext cx="146050" cy="14605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accent1"/>
                  </a:solidFill>
                </a:ln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ra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306705" y="247015"/>
            <a:ext cx="11692255" cy="6311900"/>
          </a:xfrm>
          <a:prstGeom prst="rect">
            <a:avLst/>
          </a:prstGeom>
          <a:solidFill>
            <a:schemeClr val="tx2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3"/>
            </p:custDataLst>
          </p:nvPr>
        </p:nvGrpSpPr>
        <p:grpSpPr>
          <a:xfrm>
            <a:off x="10182226" y="4781550"/>
            <a:ext cx="1687512" cy="2023800"/>
            <a:chOff x="10182226" y="4781550"/>
            <a:chExt cx="1687512" cy="2023800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0182226" y="5537223"/>
              <a:ext cx="1687512" cy="1268127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11251901" y="4781550"/>
              <a:ext cx="517824" cy="660755"/>
              <a:chOff x="11673326" y="6232662"/>
              <a:chExt cx="410724" cy="524093"/>
            </a:xfrm>
          </p:grpSpPr>
          <p:sp>
            <p:nvSpPr>
              <p:cNvPr id="10" name="椭圆 9"/>
              <p:cNvSpPr/>
              <p:nvPr>
                <p:custDataLst>
                  <p:tags r:id="rId7"/>
                </p:custDataLst>
              </p:nvPr>
            </p:nvSpPr>
            <p:spPr>
              <a:xfrm>
                <a:off x="11819376" y="6492081"/>
                <a:ext cx="264674" cy="264674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accent1"/>
                    </a:solidFill>
                  </a:ln>
                </a:endParaRPr>
              </a:p>
            </p:txBody>
          </p:sp>
          <p:sp>
            <p:nvSpPr>
              <p:cNvPr id="11" name="椭圆 10"/>
              <p:cNvSpPr/>
              <p:nvPr>
                <p:custDataLst>
                  <p:tags r:id="rId8"/>
                </p:custDataLst>
              </p:nvPr>
            </p:nvSpPr>
            <p:spPr>
              <a:xfrm>
                <a:off x="11912600" y="6232662"/>
                <a:ext cx="146050" cy="14605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accent1"/>
                    </a:solidFill>
                  </a:ln>
                </a:endParaRPr>
              </a:p>
            </p:txBody>
          </p:sp>
          <p:sp>
            <p:nvSpPr>
              <p:cNvPr id="12" name="椭圆 11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73326" y="6362700"/>
                <a:ext cx="146050" cy="14605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accent1"/>
                    </a:solidFill>
                  </a:ln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/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grpSp>
        <p:nvGrpSpPr>
          <p:cNvPr id="6" name="组合 5"/>
          <p:cNvGrpSpPr/>
          <p:nvPr userDrawn="1">
            <p:custDataLst>
              <p:tags r:id="rId3"/>
            </p:custDataLst>
          </p:nvPr>
        </p:nvGrpSpPr>
        <p:grpSpPr>
          <a:xfrm>
            <a:off x="216808" y="4686300"/>
            <a:ext cx="1687512" cy="2035363"/>
            <a:chOff x="216808" y="4686300"/>
            <a:chExt cx="1687512" cy="2035363"/>
          </a:xfrm>
        </p:grpSpPr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 rotWithShape="1">
            <a:blip r:embed="rId5"/>
            <a:srcRect/>
            <a:stretch>
              <a:fillRect/>
            </a:stretch>
          </p:blipFill>
          <p:spPr>
            <a:xfrm flipH="1">
              <a:off x="216808" y="5453536"/>
              <a:ext cx="1687512" cy="1268127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326294" y="4686300"/>
              <a:ext cx="513812" cy="655636"/>
              <a:chOff x="11673326" y="6232662"/>
              <a:chExt cx="410724" cy="524093"/>
            </a:xfrm>
          </p:grpSpPr>
          <p:sp>
            <p:nvSpPr>
              <p:cNvPr id="12" name="椭圆 11"/>
              <p:cNvSpPr/>
              <p:nvPr>
                <p:custDataLst>
                  <p:tags r:id="rId7"/>
                </p:custDataLst>
              </p:nvPr>
            </p:nvSpPr>
            <p:spPr>
              <a:xfrm>
                <a:off x="11819376" y="6492081"/>
                <a:ext cx="264674" cy="264674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n>
                    <a:solidFill>
                      <a:schemeClr val="accent1"/>
                    </a:solidFill>
                  </a:ln>
                </a:endParaRPr>
              </a:p>
            </p:txBody>
          </p:sp>
          <p:sp>
            <p:nvSpPr>
              <p:cNvPr id="13" name="椭圆 12"/>
              <p:cNvSpPr/>
              <p:nvPr>
                <p:custDataLst>
                  <p:tags r:id="rId8"/>
                </p:custDataLst>
              </p:nvPr>
            </p:nvSpPr>
            <p:spPr>
              <a:xfrm>
                <a:off x="11912600" y="6232662"/>
                <a:ext cx="146050" cy="14605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accent1"/>
                    </a:solidFill>
                  </a:ln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73326" y="6362700"/>
                <a:ext cx="146050" cy="14605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accent1"/>
                    </a:solidFill>
                  </a:ln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4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5"/>
            </p:custDataLst>
          </p:nvPr>
        </p:nvSpPr>
        <p:spPr>
          <a:xfrm>
            <a:off x="5101200" y="769939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/do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>
              <a:alpha val="4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10931017" y="130763"/>
            <a:ext cx="1144588" cy="8601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wn/u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>
              <a:alpha val="4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10931017" y="130763"/>
            <a:ext cx="1144588" cy="8601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iga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3"/>
            </p:custDataLst>
          </p:nvPr>
        </p:nvGrpSpPr>
        <p:grpSpPr>
          <a:xfrm>
            <a:off x="11451926" y="6057900"/>
            <a:ext cx="517824" cy="660755"/>
            <a:chOff x="11673326" y="6232662"/>
            <a:chExt cx="410724" cy="524093"/>
          </a:xfrm>
        </p:grpSpPr>
        <p:sp>
          <p:nvSpPr>
            <p:cNvPr id="14" name="椭圆 13"/>
            <p:cNvSpPr/>
            <p:nvPr>
              <p:custDataLst>
                <p:tags r:id="rId4"/>
              </p:custDataLst>
            </p:nvPr>
          </p:nvSpPr>
          <p:spPr>
            <a:xfrm>
              <a:off x="11819376" y="6492081"/>
              <a:ext cx="264674" cy="264674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accent1"/>
                  </a:solidFill>
                </a:ln>
              </a:endParaRPr>
            </a:p>
          </p:txBody>
        </p:sp>
        <p:sp>
          <p:nvSpPr>
            <p:cNvPr id="15" name="椭圆 14"/>
            <p:cNvSpPr/>
            <p:nvPr>
              <p:custDataLst>
                <p:tags r:id="rId5"/>
              </p:custDataLst>
            </p:nvPr>
          </p:nvSpPr>
          <p:spPr>
            <a:xfrm>
              <a:off x="11912600" y="6232662"/>
              <a:ext cx="146050" cy="14605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accent1"/>
                  </a:solidFill>
                </a:ln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1673326" y="6362700"/>
              <a:ext cx="146050" cy="14605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accent1"/>
                  </a:solidFill>
                </a:ln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istba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6" name="组合 5"/>
          <p:cNvGrpSpPr/>
          <p:nvPr userDrawn="1">
            <p:custDataLst>
              <p:tags r:id="rId3"/>
            </p:custDataLst>
          </p:nvPr>
        </p:nvGrpSpPr>
        <p:grpSpPr>
          <a:xfrm>
            <a:off x="79356" y="3133725"/>
            <a:ext cx="12033288" cy="927455"/>
            <a:chOff x="79356" y="3133725"/>
            <a:chExt cx="12033288" cy="927455"/>
          </a:xfrm>
        </p:grpSpPr>
        <p:grpSp>
          <p:nvGrpSpPr>
            <p:cNvPr id="8" name="组合 7"/>
            <p:cNvGrpSpPr/>
            <p:nvPr userDrawn="1">
              <p:custDataLst>
                <p:tags r:id="rId4"/>
              </p:custDataLst>
            </p:nvPr>
          </p:nvGrpSpPr>
          <p:grpSpPr>
            <a:xfrm>
              <a:off x="11385811" y="3133725"/>
              <a:ext cx="726833" cy="927455"/>
              <a:chOff x="11673326" y="6232662"/>
              <a:chExt cx="410724" cy="524093"/>
            </a:xfrm>
          </p:grpSpPr>
          <p:sp>
            <p:nvSpPr>
              <p:cNvPr id="9" name="椭圆 8"/>
              <p:cNvSpPr/>
              <p:nvPr>
                <p:custDataLst>
                  <p:tags r:id="rId5"/>
                </p:custDataLst>
              </p:nvPr>
            </p:nvSpPr>
            <p:spPr>
              <a:xfrm>
                <a:off x="11819376" y="6492081"/>
                <a:ext cx="264674" cy="264674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accent1"/>
                    </a:solidFill>
                  </a:ln>
                </a:endParaRPr>
              </a:p>
            </p:txBody>
          </p:sp>
          <p:sp>
            <p:nvSpPr>
              <p:cNvPr id="11" name="椭圆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11912600" y="6232662"/>
                <a:ext cx="146050" cy="14605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accent1"/>
                    </a:solidFill>
                  </a:ln>
                </a:endParaRPr>
              </a:p>
            </p:txBody>
          </p:sp>
          <p:sp>
            <p:nvSpPr>
              <p:cNvPr id="12" name="椭圆 11"/>
              <p:cNvSpPr/>
              <p:nvPr>
                <p:custDataLst>
                  <p:tags r:id="rId7"/>
                </p:custDataLst>
              </p:nvPr>
            </p:nvSpPr>
            <p:spPr>
              <a:xfrm>
                <a:off x="11673326" y="6362700"/>
                <a:ext cx="146050" cy="14605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accent1"/>
                    </a:solidFill>
                  </a:ln>
                </a:endParaRPr>
              </a:p>
            </p:txBody>
          </p:sp>
        </p:grpSp>
        <p:grpSp>
          <p:nvGrpSpPr>
            <p:cNvPr id="13" name="组合 12"/>
            <p:cNvGrpSpPr/>
            <p:nvPr userDrawn="1">
              <p:custDataLst>
                <p:tags r:id="rId8"/>
              </p:custDataLst>
            </p:nvPr>
          </p:nvGrpSpPr>
          <p:grpSpPr>
            <a:xfrm flipH="1">
              <a:off x="79356" y="3133725"/>
              <a:ext cx="726833" cy="927455"/>
              <a:chOff x="11673326" y="6232662"/>
              <a:chExt cx="410724" cy="524093"/>
            </a:xfrm>
          </p:grpSpPr>
          <p:sp>
            <p:nvSpPr>
              <p:cNvPr id="14" name="椭圆 13"/>
              <p:cNvSpPr/>
              <p:nvPr>
                <p:custDataLst>
                  <p:tags r:id="rId9"/>
                </p:custDataLst>
              </p:nvPr>
            </p:nvSpPr>
            <p:spPr>
              <a:xfrm>
                <a:off x="11819376" y="6492081"/>
                <a:ext cx="264674" cy="264674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accent1"/>
                    </a:solidFill>
                  </a:ln>
                </a:endParaRPr>
              </a:p>
            </p:txBody>
          </p:sp>
          <p:sp>
            <p:nvSpPr>
              <p:cNvPr id="15" name="椭圆 14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912600" y="6232662"/>
                <a:ext cx="146050" cy="14605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accent1"/>
                    </a:solidFill>
                  </a:ln>
                </a:endParaRPr>
              </a:p>
            </p:txBody>
          </p:sp>
          <p:sp>
            <p:nvSpPr>
              <p:cNvPr id="16" name="椭圆 15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673326" y="6362700"/>
                <a:ext cx="146050" cy="14605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accent1"/>
                    </a:solidFill>
                  </a:ln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6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44.xml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3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1604010" y="2181225"/>
            <a:ext cx="8759825" cy="20853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80000"/>
              </a:lnSpc>
            </a:pPr>
            <a:r>
              <a:rPr sz="3600">
                <a:sym typeface="+mn-ea"/>
              </a:rPr>
              <a:t>Context Engineering, RAG &amp; System Architecture</a:t>
            </a:r>
            <a:endParaRPr lang="en-US" altLang="zh-CN" sz="3600" b="1" dirty="0" smtClean="0">
              <a:solidFill>
                <a:schemeClr val="accent4">
                  <a:lumMod val="75000"/>
                </a:schemeClr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5825" y="1417955"/>
            <a:ext cx="8054975" cy="380365"/>
          </a:xfrm>
        </p:spPr>
        <p:txBody>
          <a:bodyPr>
            <a:normAutofit fontScale="90000"/>
          </a:bodyPr>
          <a:lstStyle/>
          <a:p>
            <a:r>
              <a:rPr sz="4000"/>
              <a:t>Context Engineering, RAG &amp; System Architecture</a:t>
            </a:r>
            <a:endParaRPr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2800" y="3429000"/>
            <a:ext cx="8054975" cy="1504315"/>
          </a:xfrm>
        </p:spPr>
        <p:txBody>
          <a:bodyPr>
            <a:normAutofit lnSpcReduction="20000"/>
          </a:bodyPr>
          <a:lstStyle/>
          <a:p>
            <a:pPr lvl="1"/>
            <a:r>
              <a:rPr sz="1800"/>
              <a:t>Context Design for LLM Systems</a:t>
            </a:r>
            <a:endParaRPr sz="1800"/>
          </a:p>
          <a:p>
            <a:pPr lvl="1"/>
            <a:r>
              <a:rPr sz="1800"/>
              <a:t>RAG Architecture &amp; Data Pipelines</a:t>
            </a:r>
            <a:endParaRPr sz="1800"/>
          </a:p>
          <a:p>
            <a:pPr lvl="1"/>
            <a:r>
              <a:rPr sz="1800"/>
              <a:t>End-to-End System Design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/>
              <a:t>What is Context in Generative AI?</a:t>
            </a:r>
            <a:endParaRPr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Context = All information given to LLM at inference time</a:t>
            </a:r>
            <a:endParaRPr sz="1800"/>
          </a:p>
          <a:p>
            <a:pPr lvl="1"/>
            <a:r>
              <a:rPr sz="1800"/>
              <a:t>Includes:</a:t>
            </a:r>
            <a:endParaRPr sz="1800"/>
          </a:p>
          <a:p>
            <a:pPr lvl="1"/>
            <a:r>
              <a:rPr sz="1800"/>
              <a:t>System instructions</a:t>
            </a:r>
            <a:endParaRPr sz="1800"/>
          </a:p>
          <a:p>
            <a:pPr lvl="1"/>
            <a:r>
              <a:rPr sz="1800"/>
              <a:t>User query</a:t>
            </a:r>
            <a:endParaRPr sz="1800"/>
          </a:p>
          <a:p>
            <a:pPr lvl="1"/>
            <a:r>
              <a:rPr sz="1800"/>
              <a:t>Chat history</a:t>
            </a:r>
            <a:endParaRPr sz="1800"/>
          </a:p>
          <a:p>
            <a:pPr lvl="1"/>
            <a:r>
              <a:rPr sz="1800"/>
              <a:t>Retrieved documents</a:t>
            </a:r>
            <a:endParaRPr sz="1800"/>
          </a:p>
          <a:p>
            <a:pPr lvl="1"/>
            <a:r>
              <a:rPr sz="1800"/>
              <a:t>Tool outputs</a:t>
            </a:r>
            <a:endParaRPr sz="1800"/>
          </a:p>
          <a:p>
            <a:pPr lvl="1"/>
            <a:r>
              <a:rPr sz="1800"/>
              <a:t>Persistent memory</a:t>
            </a:r>
            <a:endParaRPr sz="1800"/>
          </a:p>
          <a:p>
            <a:pPr lvl="1"/>
            <a:r>
              <a:rPr sz="1800"/>
              <a:t>Model responds ONLY based on available context window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7708"/>
            <a:ext cx="8229600" cy="1143000"/>
          </a:xfrm>
        </p:spPr>
        <p:txBody>
          <a:bodyPr/>
          <a:lstStyle/>
          <a:p>
            <a:r>
              <a:rPr sz="4000"/>
              <a:t>What is Context Engineering?</a:t>
            </a:r>
            <a:endParaRPr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202815"/>
            <a:ext cx="8229600" cy="4525963"/>
          </a:xfrm>
        </p:spPr>
        <p:txBody>
          <a:bodyPr/>
          <a:lstStyle/>
          <a:p>
            <a:r>
              <a:rPr sz="1800"/>
              <a:t>Structured design of LLM input before generation</a:t>
            </a:r>
            <a:endParaRPr sz="1800"/>
          </a:p>
          <a:p>
            <a:pPr lvl="1"/>
            <a:r>
              <a:rPr sz="1800"/>
              <a:t>Involves:</a:t>
            </a:r>
            <a:endParaRPr sz="1800"/>
          </a:p>
          <a:p>
            <a:pPr lvl="1"/>
            <a:r>
              <a:rPr sz="1800"/>
              <a:t>Selecting relevant data</a:t>
            </a:r>
            <a:endParaRPr sz="1800"/>
          </a:p>
          <a:p>
            <a:pPr lvl="1"/>
            <a:r>
              <a:rPr sz="1800"/>
              <a:t>Removing noise</a:t>
            </a:r>
            <a:endParaRPr sz="1800"/>
          </a:p>
          <a:p>
            <a:pPr lvl="1"/>
            <a:r>
              <a:rPr sz="1800"/>
              <a:t>Structuring &amp; ordering inputs</a:t>
            </a:r>
            <a:endParaRPr sz="1800"/>
          </a:p>
          <a:p>
            <a:pPr lvl="1"/>
            <a:r>
              <a:rPr sz="1800"/>
              <a:t>Managing token limits</a:t>
            </a:r>
            <a:endParaRPr sz="1800"/>
          </a:p>
          <a:p>
            <a:pPr lvl="1"/>
            <a:r>
              <a:rPr sz="1800"/>
              <a:t>It is a system-level discipline, not just prompt writing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572453"/>
            <a:ext cx="8229600" cy="1143000"/>
          </a:xfrm>
        </p:spPr>
        <p:txBody>
          <a:bodyPr/>
          <a:lstStyle/>
          <a:p>
            <a:r>
              <a:rPr sz="4000"/>
              <a:t>What is Context Engineering?</a:t>
            </a:r>
            <a:endParaRPr sz="4000"/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 flipH="1" flipV="1">
            <a:off x="6096635" y="3429635"/>
            <a:ext cx="590550" cy="352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665" y="2052955"/>
            <a:ext cx="7075805" cy="3956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31838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4000"/>
              <a:t>Context Engineering vs Prompt Engineering</a:t>
            </a:r>
            <a:endParaRPr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265045"/>
            <a:ext cx="8229600" cy="4525963"/>
          </a:xfrm>
        </p:spPr>
        <p:txBody>
          <a:bodyPr/>
          <a:lstStyle/>
          <a:p>
            <a:r>
              <a:rPr sz="1800"/>
              <a:t>Prompt Engineering</a:t>
            </a:r>
            <a:endParaRPr sz="1800"/>
          </a:p>
          <a:p>
            <a:pPr lvl="1"/>
            <a:r>
              <a:rPr sz="1800"/>
              <a:t>Focus: Instruction wording</a:t>
            </a:r>
            <a:endParaRPr sz="1800"/>
          </a:p>
          <a:p>
            <a:pPr lvl="1"/>
            <a:r>
              <a:rPr sz="1800"/>
              <a:t>Static interaction</a:t>
            </a:r>
            <a:endParaRPr sz="1800"/>
          </a:p>
          <a:p>
            <a:pPr lvl="1"/>
            <a:r>
              <a:rPr sz="1800"/>
              <a:t>Single-response optimization</a:t>
            </a:r>
            <a:endParaRPr sz="1800"/>
          </a:p>
          <a:p>
            <a:pPr lvl="1"/>
            <a:r>
              <a:rPr sz="1800"/>
              <a:t>Context Engineering</a:t>
            </a:r>
            <a:endParaRPr sz="1800"/>
          </a:p>
          <a:p>
            <a:pPr lvl="1"/>
            <a:r>
              <a:rPr sz="1800"/>
              <a:t>Focus: Data pipeline design</a:t>
            </a:r>
            <a:endParaRPr sz="1800"/>
          </a:p>
          <a:p>
            <a:pPr lvl="1"/>
            <a:r>
              <a:rPr sz="1800"/>
              <a:t>Dynamic &amp; retrieval-driven</a:t>
            </a:r>
            <a:endParaRPr sz="1800"/>
          </a:p>
          <a:p>
            <a:pPr lvl="1"/>
            <a:r>
              <a:rPr sz="1800"/>
              <a:t>End-to-end architecture approach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2245360" y="728345"/>
            <a:ext cx="7952105" cy="5401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900" y="1231900"/>
            <a:ext cx="5918200" cy="4394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/>
              <a:t>Context Engineering in Agentic AI</a:t>
            </a:r>
            <a:endParaRPr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Agents can:</a:t>
            </a:r>
            <a:endParaRPr sz="1800"/>
          </a:p>
          <a:p>
            <a:pPr lvl="1"/>
            <a:r>
              <a:rPr sz="1800"/>
              <a:t>Retrieve knowledge</a:t>
            </a:r>
            <a:endParaRPr sz="1800"/>
          </a:p>
          <a:p>
            <a:pPr lvl="1"/>
            <a:r>
              <a:rPr sz="1800"/>
              <a:t>Call tools/APIs</a:t>
            </a:r>
            <a:endParaRPr sz="1800"/>
          </a:p>
          <a:p>
            <a:pPr lvl="1"/>
            <a:r>
              <a:rPr sz="1800"/>
              <a:t>Maintain memory</a:t>
            </a:r>
            <a:endParaRPr sz="1800"/>
          </a:p>
          <a:p>
            <a:pPr lvl="1"/>
            <a:r>
              <a:rPr sz="1800"/>
              <a:t>Perform multi-step reasoning</a:t>
            </a:r>
            <a:endParaRPr sz="1800"/>
          </a:p>
          <a:p>
            <a:pPr lvl="1"/>
            <a:r>
              <a:rPr sz="1800"/>
              <a:t>Context engineering ensures:</a:t>
            </a:r>
            <a:endParaRPr sz="1800"/>
          </a:p>
          <a:p>
            <a:pPr lvl="1"/>
            <a:r>
              <a:rPr sz="1800"/>
              <a:t>Correct memory availability</a:t>
            </a:r>
            <a:endParaRPr sz="1800"/>
          </a:p>
          <a:p>
            <a:pPr lvl="1"/>
            <a:r>
              <a:rPr sz="1800"/>
              <a:t>Structured tool outputs</a:t>
            </a:r>
            <a:endParaRPr sz="1800"/>
          </a:p>
          <a:p>
            <a:pPr lvl="1"/>
            <a:r>
              <a:rPr sz="1800"/>
              <a:t>Reliable state preservation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/>
              <a:t>Context Engineering in Agentic AI</a:t>
            </a:r>
            <a:endParaRPr sz="400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981200" y="2621915"/>
            <a:ext cx="8325485" cy="2748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/>
              <a:t>Types of Context</a:t>
            </a:r>
            <a:endParaRPr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Instruction Context</a:t>
            </a:r>
            <a:endParaRPr sz="1800"/>
          </a:p>
          <a:p>
            <a:pPr lvl="1"/>
            <a:r>
              <a:rPr sz="1800"/>
              <a:t>User Context</a:t>
            </a:r>
            <a:endParaRPr sz="1800"/>
          </a:p>
          <a:p>
            <a:pPr lvl="1"/>
            <a:r>
              <a:rPr sz="1800"/>
              <a:t>Conversational Context</a:t>
            </a:r>
            <a:endParaRPr sz="1800"/>
          </a:p>
          <a:p>
            <a:pPr lvl="1"/>
            <a:r>
              <a:rPr sz="1800"/>
              <a:t>Knowledge Context</a:t>
            </a:r>
            <a:endParaRPr sz="1800"/>
          </a:p>
          <a:p>
            <a:pPr lvl="1"/>
            <a:r>
              <a:rPr sz="1800"/>
              <a:t>Tool Context</a:t>
            </a:r>
            <a:endParaRPr sz="1800"/>
          </a:p>
          <a:p>
            <a:pPr lvl="1"/>
            <a:r>
              <a:rPr sz="1800"/>
              <a:t>Memory Context</a:t>
            </a:r>
            <a:endParaRPr sz="1800"/>
          </a:p>
          <a:p>
            <a:pPr lvl="1"/>
            <a:r>
              <a:rPr sz="1800"/>
              <a:t>Each type plays a role in improving reliability.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06076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Why Context Engineering Matters for Your Product</a:t>
            </a:r>
            <a:endParaRPr lang="en-US" altLang="en-US" sz="4000"/>
          </a:p>
        </p:txBody>
      </p:sp>
      <p:sp>
        <p:nvSpPr>
          <p:cNvPr id="6" name="Text Box 5"/>
          <p:cNvSpPr txBox="1"/>
          <p:nvPr/>
        </p:nvSpPr>
        <p:spPr>
          <a:xfrm>
            <a:off x="2399030" y="2706370"/>
            <a:ext cx="7393940" cy="294513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sz="1600" b="0" i="0">
                <a:solidFill>
                  <a:srgbClr val="565D37"/>
                </a:solidFill>
                <a:latin typeface="Lora"/>
                <a:ea typeface="Lora"/>
              </a:rPr>
              <a:t>Context poisoning: Hallucinations contaminating future responses.</a:t>
            </a:r>
            <a:endParaRPr sz="1600" b="0" i="0">
              <a:solidFill>
                <a:srgbClr val="565D37"/>
              </a:solidFill>
              <a:latin typeface="Lora"/>
              <a:ea typeface="Lor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sz="1600" b="0" i="0">
                <a:solidFill>
                  <a:srgbClr val="565D37"/>
                </a:solidFill>
                <a:latin typeface="Lora"/>
                <a:ea typeface="Lora"/>
              </a:rPr>
              <a:t>Context distraction: Too much information overwhelming the model.</a:t>
            </a:r>
            <a:endParaRPr sz="1600" b="0" i="0">
              <a:solidFill>
                <a:srgbClr val="565D37"/>
              </a:solidFill>
              <a:latin typeface="Lora"/>
              <a:ea typeface="Lor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sz="1600" b="0" i="0">
                <a:solidFill>
                  <a:srgbClr val="565D37"/>
                </a:solidFill>
                <a:latin typeface="Lora"/>
                <a:ea typeface="Lora"/>
              </a:rPr>
              <a:t>Context confusion: Conflicting information causing errors.</a:t>
            </a:r>
            <a:endParaRPr sz="1600" b="0" i="0">
              <a:solidFill>
                <a:srgbClr val="565D37"/>
              </a:solidFill>
              <a:latin typeface="Lora"/>
              <a:ea typeface="Lor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sz="1600" b="0" i="0">
                <a:solidFill>
                  <a:srgbClr val="565D37"/>
                </a:solidFill>
                <a:latin typeface="Lora"/>
                <a:ea typeface="Lora"/>
              </a:rPr>
              <a:t>Context clash: Disagreeing sources and instructions leading to inconsistent outputs.</a:t>
            </a:r>
            <a:endParaRPr sz="1600" b="0" i="0">
              <a:solidFill>
                <a:srgbClr val="565D37"/>
              </a:solidFill>
              <a:latin typeface="Lora"/>
              <a:ea typeface="L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5980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Why Context Engineering Matters for Your Product</a:t>
            </a:r>
            <a:endParaRPr lang="en-US" altLang="en-US" sz="400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981200" y="3780155"/>
            <a:ext cx="8229600" cy="128016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  <p:tag name="KSO_WM_UNIT_SUBTYPE" val="q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82_9**"/>
  <p:tag name="KSO_WM_TEMPLATE_CATEGORY" val="custom"/>
  <p:tag name="KSO_WM_TEMPLATE_INDEX" val="20202682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3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4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4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5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5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82_10**"/>
  <p:tag name="KSO_WM_TEMPLATE_CATEGORY" val="custom"/>
  <p:tag name="KSO_WM_TEMPLATE_INDEX" val="20202682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3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4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5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KSO_WM_UNIT_TYPE" val="i"/>
  <p:tag name="KSO_WM_UNIT_INDEX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KSO_WM_UNIT_TYPE" val="i"/>
  <p:tag name="KSO_WM_UNIT_INDEX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KSO_WM_UNIT_TYPE" val="i"/>
  <p:tag name="KSO_WM_UNIT_INDEX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KSO_WM_UNIT_TYPE" val="i"/>
  <p:tag name="KSO_WM_UNIT_INDEX" val="3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KSO_WM_UNIT_TYPE" val="i"/>
  <p:tag name="KSO_WM_UNIT_INDEX" val="4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82_14**"/>
  <p:tag name="KSO_WM_TEMPLATE_CATEGORY" val="custom"/>
  <p:tag name="KSO_WM_TEMPLATE_INDEX" val="20202682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3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3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4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4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82_14**"/>
  <p:tag name="KSO_WM_TEMPLATE_CATEGORY" val="custom"/>
  <p:tag name="KSO_WM_TEMPLATE_INDEX" val="20202682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5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5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6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6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7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7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9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2682"/>
</p:tagLst>
</file>

<file path=ppt/tags/tag14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268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682"/>
  <p:tag name="KSO_WM_TEMPLATE_THUMBS_INDEX" val="1、4、7、8、9、10、11、12、13、14、15"/>
  <p:tag name="KSO_WM_TEMPLATE_MASTER_THUMB_INDEX" val="18"/>
</p:tagLst>
</file>

<file path=ppt/tags/tag145.xml><?xml version="1.0" encoding="utf-8"?>
<p:tagLst xmlns:p="http://schemas.openxmlformats.org/presentationml/2006/main">
  <p:tag name="KSO_WM_SLIDE_ID" val="custom20202682_1"/>
  <p:tag name="KSO_WM_TEMPLATE_SUBCATEGORY" val="0"/>
  <p:tag name="KSO_WM_TEMPLATE_MASTER_TYPE" val="1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682"/>
  <p:tag name="KSO_WM_SLIDE_TYPE" val="title"/>
  <p:tag name="KSO_WM_SLIDE_SUBTYPE" val="pureTxt"/>
  <p:tag name="KSO_WM_SLIDE_LAYOUT" val="a_b"/>
  <p:tag name="KSO_WM_SLIDE_LAYOUT_CNT" val="1_1"/>
  <p:tag name="KSO_WM_TEMPLATE_THUMBS_INDEX" val="1、4、7、8、9、10、11、12、13、14、15"/>
  <p:tag name="KSO_WM_TEMPLATE_MASTER_THUMB_INDEX" val="12"/>
</p:tagLst>
</file>

<file path=ppt/theme/theme1.xml><?xml version="1.0" encoding="utf-8"?>
<a:theme xmlns:a="http://schemas.openxmlformats.org/drawingml/2006/main" name="Office Theme">
  <a:themeElements>
    <a:clrScheme name="自定义 82">
      <a:dk1>
        <a:sysClr val="windowText" lastClr="000000"/>
      </a:dk1>
      <a:lt1>
        <a:sysClr val="window" lastClr="FFFFFF"/>
      </a:lt1>
      <a:dk2>
        <a:srgbClr val="ADADAD"/>
      </a:dk2>
      <a:lt2>
        <a:srgbClr val="FFFFFF"/>
      </a:lt2>
      <a:accent1>
        <a:srgbClr val="000000"/>
      </a:accent1>
      <a:accent2>
        <a:srgbClr val="1F1F1F"/>
      </a:accent2>
      <a:accent3>
        <a:srgbClr val="3D3D3D"/>
      </a:accent3>
      <a:accent4>
        <a:srgbClr val="5C5C5C"/>
      </a:accent4>
      <a:accent5>
        <a:srgbClr val="7A7A7A"/>
      </a:accent5>
      <a:accent6>
        <a:srgbClr val="999999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1696</Words>
  <Application>WPS Sheets</Application>
  <PresentationFormat>宽屏</PresentationFormat>
  <Paragraphs>76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5" baseType="lpstr">
      <vt:lpstr>Arial</vt:lpstr>
      <vt:lpstr>SimSun</vt:lpstr>
      <vt:lpstr>Wingdings</vt:lpstr>
      <vt:lpstr>Microsoft YaHei</vt:lpstr>
      <vt:lpstr>汉仪旗黑</vt:lpstr>
      <vt:lpstr>汉仪旗黑-85S</vt:lpstr>
      <vt:lpstr>黑体-简</vt:lpstr>
      <vt:lpstr>SimSun</vt:lpstr>
      <vt:lpstr>Segoe UI</vt:lpstr>
      <vt:lpstr>苹方-简</vt:lpstr>
      <vt:lpstr>Arial Unicode MS</vt:lpstr>
      <vt:lpstr>宋体-简</vt:lpstr>
      <vt:lpstr>等线</vt:lpstr>
      <vt:lpstr>Calibri</vt:lpstr>
      <vt:lpstr>Helvetica Neue</vt:lpstr>
      <vt:lpstr>Microsoft YaHei</vt:lpstr>
      <vt:lpstr>SimSun</vt:lpstr>
      <vt:lpstr>汉仪旗黑-85S</vt:lpstr>
      <vt:lpstr>Arial</vt:lpstr>
      <vt:lpstr>Lora</vt:lpstr>
      <vt:lpstr>Thonburi</vt:lpstr>
      <vt:lpstr>Office Theme</vt:lpstr>
      <vt:lpstr>PowerPoint 演示文稿</vt:lpstr>
      <vt:lpstr>Context Engineering, RAG &amp; System Architecture</vt:lpstr>
      <vt:lpstr>What is Context in Generative AI?</vt:lpstr>
      <vt:lpstr>What is Context Engineering?</vt:lpstr>
      <vt:lpstr>What is Context Engineering?</vt:lpstr>
      <vt:lpstr>Context Engineering vs Prompt Engineering</vt:lpstr>
      <vt:lpstr>PowerPoint 演示文稿</vt:lpstr>
      <vt:lpstr>PowerPoint 演示文稿</vt:lpstr>
      <vt:lpstr>Context Engineering in Agentic AI</vt:lpstr>
      <vt:lpstr>Context Engineering in Agentic AI</vt:lpstr>
      <vt:lpstr>Types of Context</vt:lpstr>
      <vt:lpstr>Why Context Engineering Matters for Your Product</vt:lpstr>
      <vt:lpstr>Why Context Engineering Matters for Your Product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shukranaahmed</cp:lastModifiedBy>
  <cp:revision>30</cp:revision>
  <dcterms:created xsi:type="dcterms:W3CDTF">2026-02-24T04:41:54Z</dcterms:created>
  <dcterms:modified xsi:type="dcterms:W3CDTF">2026-02-24T04:41:54Z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B89FF4C9E50506BAC92B9D69E117D2D0_41</vt:lpwstr>
  </property>
</Properties>
</file>