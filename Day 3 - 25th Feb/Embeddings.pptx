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8.webp" ContentType="image/webp"/>
  <Override PartName="/ppt/media/image9.webp" ContentType="image/webp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80" r:id="rId3"/>
    <p:sldId id="281" r:id="rId4"/>
    <p:sldId id="288" r:id="rId5"/>
    <p:sldId id="287" r:id="rId6"/>
    <p:sldId id="289" r:id="rId7"/>
    <p:sldId id="290" r:id="rId8"/>
    <p:sldId id="291" r:id="rId9"/>
    <p:sldId id="292" r:id="rId10"/>
    <p:sldId id="293" r:id="rId11"/>
    <p:sldId id="294" r:id="rId12"/>
    <p:sldId id="295" r:id="rId13"/>
    <p:sldId id="296" r:id="rId14"/>
    <p:sldId id="297" r:id="rId15"/>
    <p:sldId id="298" r:id="rId16"/>
    <p:sldId id="299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EFEE"/>
    <a:srgbClr val="E6EAE6"/>
    <a:srgbClr val="AA9D67"/>
    <a:srgbClr val="3A543B"/>
    <a:srgbClr val="EEEFEE"/>
    <a:srgbClr val="FFFFFF"/>
    <a:srgbClr val="F0F0F0"/>
    <a:srgbClr val="E4E5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1136" autoAdjust="0"/>
    <p:restoredTop sz="94660"/>
  </p:normalViewPr>
  <p:slideViewPr>
    <p:cSldViewPr snapToGrid="0">
      <p:cViewPr varScale="1">
        <p:scale>
          <a:sx n="70" d="100"/>
          <a:sy n="70" d="100"/>
        </p:scale>
        <p:origin x="84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5E5AD-EB0B-4CA8-9DF6-5CC2B6FF49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41190-29F5-4EBE-80F4-1EE1AF4645D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5E5AD-EB0B-4CA8-9DF6-5CC2B6FF49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41190-29F5-4EBE-80F4-1EE1AF4645D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5E5AD-EB0B-4CA8-9DF6-5CC2B6FF49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41190-29F5-4EBE-80F4-1EE1AF4645D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5E5AD-EB0B-4CA8-9DF6-5CC2B6FF49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41190-29F5-4EBE-80F4-1EE1AF4645D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5E5AD-EB0B-4CA8-9DF6-5CC2B6FF49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41190-29F5-4EBE-80F4-1EE1AF4645D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5E5AD-EB0B-4CA8-9DF6-5CC2B6FF49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41190-29F5-4EBE-80F4-1EE1AF4645D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5E5AD-EB0B-4CA8-9DF6-5CC2B6FF49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41190-29F5-4EBE-80F4-1EE1AF4645D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5E5AD-EB0B-4CA8-9DF6-5CC2B6FF49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41190-29F5-4EBE-80F4-1EE1AF4645D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5E5AD-EB0B-4CA8-9DF6-5CC2B6FF49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41190-29F5-4EBE-80F4-1EE1AF4645D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5E5AD-EB0B-4CA8-9DF6-5CC2B6FF49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41190-29F5-4EBE-80F4-1EE1AF4645D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5E5AD-EB0B-4CA8-9DF6-5CC2B6FF49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41190-29F5-4EBE-80F4-1EE1AF4645D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95E5AD-EB0B-4CA8-9DF6-5CC2B6FF49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141190-29F5-4EBE-80F4-1EE1AF4645D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webp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web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58945" y="2983865"/>
            <a:ext cx="10515600" cy="1325563"/>
          </a:xfrm>
        </p:spPr>
        <p:txBody>
          <a:bodyPr/>
          <a:lstStyle/>
          <a:p>
            <a:r>
              <a:rPr lang="en-US"/>
              <a:t>Embeddings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What Are Embeddings?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908685"/>
          </a:xfrm>
        </p:spPr>
        <p:txBody>
          <a:bodyPr/>
          <a:lstStyle/>
          <a:p>
            <a:r>
              <a:rPr lang="en-US" altLang="en-US" sz="2000"/>
              <a:t>Embeddings are numerical representations of data that map objects (words, sentences, images, etc.) into continuous vectors in a high-dimensional space.</a:t>
            </a:r>
            <a:endParaRPr lang="en-US" altLang="en-US" sz="2000"/>
          </a:p>
        </p:txBody>
      </p:sp>
      <p:pic>
        <p:nvPicPr>
          <p:cNvPr id="5" name="Picture 4"/>
          <p:cNvPicPr/>
          <p:nvPr/>
        </p:nvPicPr>
        <p:blipFill>
          <a:blip r:embed="rId1"/>
          <a:stretch>
            <a:fillRect/>
          </a:stretch>
        </p:blipFill>
        <p:spPr>
          <a:xfrm>
            <a:off x="1510030" y="2734310"/>
            <a:ext cx="9172575" cy="343281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What Are Embeddings?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908685"/>
          </a:xfrm>
        </p:spPr>
        <p:txBody>
          <a:bodyPr/>
          <a:lstStyle/>
          <a:p>
            <a:r>
              <a:rPr lang="en-US" altLang="en-US" sz="2000"/>
              <a:t>Embeddings are numerical representations of data that map objects (words, sentences, images, etc.) into continuous vectors in a high-dimensional space.</a:t>
            </a:r>
            <a:endParaRPr lang="en-US" altLang="en-US" sz="2000"/>
          </a:p>
        </p:txBody>
      </p:sp>
      <p:pic>
        <p:nvPicPr>
          <p:cNvPr id="4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1428115" y="3106420"/>
            <a:ext cx="8728710" cy="28371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What Are Embeddings?</a:t>
            </a:r>
            <a:endParaRPr lang="en-US" altLang="en-US"/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1511300" y="2127885"/>
            <a:ext cx="8353425" cy="38830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000"/>
              <a:t>They convert complex data (text/images/audio) into numbers that machines can compare.</a:t>
            </a:r>
            <a:endParaRPr lang="en-US" altLang="en-US" sz="2000"/>
          </a:p>
          <a:p>
            <a:endParaRPr lang="en-US" altLang="en-US" sz="2000"/>
          </a:p>
          <a:p>
            <a:r>
              <a:rPr lang="en-US" altLang="en-US" sz="2000"/>
              <a:t>Similar things → similar vectors (semantic similarity).</a:t>
            </a:r>
            <a:endParaRPr lang="en-US" altLang="en-US" sz="2000"/>
          </a:p>
          <a:p>
            <a:endParaRPr lang="en-US" altLang="en-US" sz="2000"/>
          </a:p>
          <a:p>
            <a:r>
              <a:rPr lang="en-US" altLang="en-US" sz="2000"/>
              <a:t>Used for search, clustering, recommendations, retrieval systems.</a:t>
            </a:r>
            <a:endParaRPr lang="en-US" altLang="en-US" sz="2000"/>
          </a:p>
          <a:p>
            <a:endParaRPr lang="en-US" altLang="en-US" sz="2000"/>
          </a:p>
          <a:p>
            <a:r>
              <a:rPr lang="en-US" altLang="en-US" sz="2000"/>
              <a:t>Better than one-hot encoding or raw token IDs because they encode meaning.</a:t>
            </a:r>
            <a:endParaRPr lang="en-US" altLang="en-US"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Types of Embeddings</a:t>
            </a:r>
            <a:endParaRPr lang="en-US" altLang="en-US"/>
          </a:p>
        </p:txBody>
      </p:sp>
      <p:pic>
        <p:nvPicPr>
          <p:cNvPr id="6" name="Picture 5"/>
          <p:cNvPicPr/>
          <p:nvPr/>
        </p:nvPicPr>
        <p:blipFill>
          <a:blip r:embed="rId1"/>
          <a:stretch>
            <a:fillRect/>
          </a:stretch>
        </p:blipFill>
        <p:spPr>
          <a:xfrm>
            <a:off x="1662430" y="1691005"/>
            <a:ext cx="9145270" cy="440499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Token vs Sentence vs Document Embeddings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7625" y="1825625"/>
            <a:ext cx="10515600" cy="90868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sz="2000"/>
              <a:t>Token embeddings: Represent individual words or subwords.</a:t>
            </a:r>
            <a:endParaRPr lang="en-US" altLang="en-US" sz="2000"/>
          </a:p>
          <a:p>
            <a:r>
              <a:rPr lang="en-US" altLang="en-US" sz="2000"/>
              <a:t>Good for word-level tasks (e.g., word analogy, translation).</a:t>
            </a:r>
            <a:endParaRPr lang="en-US" altLang="en-US" sz="2000"/>
          </a:p>
          <a:p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Sentence embeddings: Represent the meaning of complete sentences.</a:t>
            </a:r>
            <a:endParaRPr lang="en-US" altLang="en-US" sz="2000"/>
          </a:p>
          <a:p>
            <a:r>
              <a:rPr lang="en-US" altLang="en-US" sz="2000"/>
              <a:t>Useful for semantic search, ranking, similarity scoring.</a:t>
            </a:r>
            <a:endParaRPr lang="en-US" altLang="en-US" sz="2000"/>
          </a:p>
          <a:p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Document embeddings: Represent full documents.</a:t>
            </a:r>
            <a:endParaRPr lang="en-US" altLang="en-US" sz="2000"/>
          </a:p>
          <a:p>
            <a:r>
              <a:rPr lang="en-US" altLang="en-US" sz="2000"/>
              <a:t>Useful for document retrieval, clustering, summarization.</a:t>
            </a:r>
            <a:endParaRPr lang="en-US" altLang="en-US" sz="2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What Are Embeddings?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908685"/>
          </a:xfrm>
        </p:spPr>
        <p:txBody>
          <a:bodyPr/>
          <a:lstStyle/>
          <a:p>
            <a:r>
              <a:rPr lang="en-US" altLang="en-US" sz="2000"/>
              <a:t>Embeddings are numerical representations of data that map objects (words, sentences, images, etc.) into continuous vectors in a high-dimensional space.</a:t>
            </a:r>
            <a:endParaRPr lang="en-US" altLang="en-US" sz="2000"/>
          </a:p>
        </p:txBody>
      </p:sp>
      <p:pic>
        <p:nvPicPr>
          <p:cNvPr id="5" name="Picture 4"/>
          <p:cNvPicPr/>
          <p:nvPr/>
        </p:nvPicPr>
        <p:blipFill>
          <a:blip r:embed="rId1"/>
          <a:stretch>
            <a:fillRect/>
          </a:stretch>
        </p:blipFill>
        <p:spPr>
          <a:xfrm>
            <a:off x="1510030" y="2734310"/>
            <a:ext cx="9172575" cy="343281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Semantic Similarity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908685"/>
          </a:xfrm>
        </p:spPr>
        <p:txBody>
          <a:bodyPr/>
          <a:lstStyle/>
          <a:p>
            <a:r>
              <a:rPr lang="en-US" altLang="en-US" sz="2000"/>
              <a:t>Semantic similarity measures how close in meaning two pieces of text are by comparing their embeddings</a:t>
            </a:r>
            <a:endParaRPr lang="en-US" altLang="en-US" sz="2000"/>
          </a:p>
        </p:txBody>
      </p:sp>
      <p:sp>
        <p:nvSpPr>
          <p:cNvPr id="4" name="Content Placeholder 2"/>
          <p:cNvSpPr>
            <a:spLocks noGrp="1"/>
          </p:cNvSpPr>
          <p:nvPr/>
        </p:nvSpPr>
        <p:spPr>
          <a:xfrm>
            <a:off x="1913255" y="3161665"/>
            <a:ext cx="10515600" cy="90868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1600"/>
              <a:t>Rather than matching keywords, it matches meaning.</a:t>
            </a:r>
            <a:endParaRPr lang="en-US" altLang="en-US" sz="1600"/>
          </a:p>
          <a:p>
            <a:endParaRPr lang="en-US" altLang="en-US" sz="1600"/>
          </a:p>
          <a:p>
            <a:r>
              <a:rPr lang="en-US" altLang="en-US" sz="1600"/>
              <a:t>Works even if wording is different but meaning is similar.</a:t>
            </a:r>
            <a:endParaRPr lang="en-US" altLang="en-US" sz="1600"/>
          </a:p>
          <a:p>
            <a:endParaRPr lang="en-US" altLang="en-US" sz="1600"/>
          </a:p>
          <a:p>
            <a:r>
              <a:rPr lang="en-US" altLang="en-US" sz="1600"/>
              <a:t>Enables semantic search, QA, clustering, recommendations.</a:t>
            </a:r>
            <a:endParaRPr lang="en-US" altLang="en-US" sz="1600"/>
          </a:p>
        </p:txBody>
      </p:sp>
      <p:pic>
        <p:nvPicPr>
          <p:cNvPr id="6" name="Picture 5"/>
          <p:cNvPicPr/>
          <p:nvPr/>
        </p:nvPicPr>
        <p:blipFill>
          <a:blip r:embed="rId1"/>
          <a:stretch>
            <a:fillRect/>
          </a:stretch>
        </p:blipFill>
        <p:spPr>
          <a:xfrm>
            <a:off x="7694295" y="2649855"/>
            <a:ext cx="3299460" cy="3505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Vector Space Intuition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908685"/>
          </a:xfrm>
        </p:spPr>
        <p:txBody>
          <a:bodyPr/>
          <a:lstStyle/>
          <a:p>
            <a:r>
              <a:rPr lang="en-US" altLang="en-US" sz="2000"/>
              <a:t>When each item is mapped to a vector of numbers, the entire dataset forms a shape in vector space</a:t>
            </a:r>
            <a:endParaRPr lang="en-US" altLang="en-US" sz="2000"/>
          </a:p>
          <a:p>
            <a:endParaRPr lang="en-US" altLang="en-US" sz="2000"/>
          </a:p>
          <a:p>
            <a:endParaRPr lang="en-US" altLang="en-US" sz="2000"/>
          </a:p>
          <a:p>
            <a:endParaRPr lang="en-US" altLang="en-US" sz="2000"/>
          </a:p>
          <a:p>
            <a:endParaRPr lang="en-US" altLang="en-US" sz="2000"/>
          </a:p>
        </p:txBody>
      </p:sp>
      <p:sp>
        <p:nvSpPr>
          <p:cNvPr id="4" name="Content Placeholder 2"/>
          <p:cNvSpPr>
            <a:spLocks noGrp="1"/>
          </p:cNvSpPr>
          <p:nvPr/>
        </p:nvSpPr>
        <p:spPr>
          <a:xfrm>
            <a:off x="1456055" y="2974340"/>
            <a:ext cx="10515600" cy="90868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1800"/>
              <a:t>Vectors are points in a high-dimensional space.</a:t>
            </a:r>
            <a:endParaRPr lang="en-US" altLang="en-US" sz="1800"/>
          </a:p>
          <a:p>
            <a:endParaRPr lang="en-US" altLang="en-US" sz="1800"/>
          </a:p>
          <a:p>
            <a:r>
              <a:rPr lang="en-US" altLang="en-US" sz="1800"/>
              <a:t>The distance or orientation between these vectors encodes similarity.</a:t>
            </a:r>
            <a:endParaRPr lang="en-US" altLang="en-US" sz="1800"/>
          </a:p>
          <a:p>
            <a:endParaRPr lang="en-US" altLang="en-US" sz="1800"/>
          </a:p>
          <a:p>
            <a:r>
              <a:rPr lang="en-US" altLang="en-US" sz="1800"/>
              <a:t>Semantic groupings emerge naturally in the space</a:t>
            </a:r>
            <a:endParaRPr lang="en-US" altLang="en-US"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Cosine Similarity &amp; Distance Metrics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908685"/>
          </a:xfrm>
        </p:spPr>
        <p:txBody>
          <a:bodyPr/>
          <a:lstStyle/>
          <a:p>
            <a:r>
              <a:rPr lang="en-US" altLang="en-US" sz="2000"/>
              <a:t>Cosine similarity is a widely used metric to measure how similar two vectors are by looking at the angle between them rather than magnitude</a:t>
            </a:r>
            <a:endParaRPr lang="en-US" altLang="en-US" sz="2000"/>
          </a:p>
        </p:txBody>
      </p:sp>
      <p:pic>
        <p:nvPicPr>
          <p:cNvPr id="4" name="Picture 3"/>
          <p:cNvPicPr/>
          <p:nvPr/>
        </p:nvPicPr>
        <p:blipFill>
          <a:blip r:embed="rId1"/>
          <a:srcRect l="8079" t="9406" r="8079" b="10696"/>
          <a:stretch>
            <a:fillRect/>
          </a:stretch>
        </p:blipFill>
        <p:spPr>
          <a:xfrm>
            <a:off x="3041650" y="3344545"/>
            <a:ext cx="6708775" cy="267525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Embedding Models and Use Cases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908685"/>
          </a:xfrm>
        </p:spPr>
        <p:txBody>
          <a:bodyPr/>
          <a:lstStyle/>
          <a:p>
            <a:r>
              <a:rPr lang="en-US" altLang="en-US" sz="2000"/>
              <a:t>Embeddings are numerical representations of data that map objects (words, sentences, images, etc.) into continuous vectors in a high-dimensional space.</a:t>
            </a:r>
            <a:endParaRPr lang="en-US" altLang="en-US" sz="2000"/>
          </a:p>
        </p:txBody>
      </p:sp>
      <p:sp>
        <p:nvSpPr>
          <p:cNvPr id="4" name="Content Placeholder 2"/>
          <p:cNvSpPr>
            <a:spLocks noGrp="1"/>
          </p:cNvSpPr>
          <p:nvPr/>
        </p:nvSpPr>
        <p:spPr>
          <a:xfrm>
            <a:off x="1423035" y="2868930"/>
            <a:ext cx="10515600" cy="90868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 sz="1600"/>
              <a:t>Text embedding models</a:t>
            </a:r>
            <a:endParaRPr lang="en-US" altLang="en-US" sz="1600"/>
          </a:p>
          <a:p>
            <a:r>
              <a:rPr lang="en-US" altLang="en-US" sz="1600"/>
              <a:t>Word2vec, GloVe → static word embeddings.</a:t>
            </a:r>
            <a:endParaRPr lang="en-US" altLang="en-US" sz="1600"/>
          </a:p>
          <a:p>
            <a:r>
              <a:rPr lang="en-US" altLang="en-US" sz="1600"/>
              <a:t>BERT, GPT-based encoders → contextual embeddings.</a:t>
            </a:r>
            <a:endParaRPr lang="en-US" altLang="en-US" sz="1600"/>
          </a:p>
          <a:p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Document / sentence models</a:t>
            </a:r>
            <a:endParaRPr lang="en-US" altLang="en-US" sz="1600"/>
          </a:p>
          <a:p>
            <a:r>
              <a:rPr lang="en-US" altLang="en-US" sz="1600"/>
              <a:t>Sentence-BERT, Universal Sentence Encoder → sentence representations.</a:t>
            </a:r>
            <a:endParaRPr lang="en-US" altLang="en-US" sz="1600"/>
          </a:p>
          <a:p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Image / multimodal models</a:t>
            </a:r>
            <a:endParaRPr lang="en-US" altLang="en-US" sz="1600"/>
          </a:p>
          <a:p>
            <a:r>
              <a:rPr lang="en-US" altLang="en-US" sz="1600"/>
              <a:t>CLIP, multimodal models → align text and image embeddings.</a:t>
            </a:r>
            <a:endParaRPr lang="en-US" altLang="en-US" sz="16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Embedding Pipelines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908685"/>
          </a:xfrm>
        </p:spPr>
        <p:txBody>
          <a:bodyPr/>
          <a:lstStyle/>
          <a:p>
            <a:r>
              <a:rPr lang="en-US" altLang="en-US" sz="2000"/>
              <a:t>An embedding pipeline converts raw data into searchable embeddings with steps in between</a:t>
            </a:r>
            <a:endParaRPr lang="en-US" altLang="en-US" sz="2000"/>
          </a:p>
        </p:txBody>
      </p:sp>
      <p:pic>
        <p:nvPicPr>
          <p:cNvPr id="5" name="Picture 4"/>
          <p:cNvPicPr/>
          <p:nvPr/>
        </p:nvPicPr>
        <p:blipFill>
          <a:blip r:embed="rId1"/>
          <a:stretch>
            <a:fillRect/>
          </a:stretch>
        </p:blipFill>
        <p:spPr>
          <a:xfrm>
            <a:off x="1494790" y="3429000"/>
            <a:ext cx="9338310" cy="247523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Embedding Quality Considerations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908685"/>
          </a:xfrm>
        </p:spPr>
        <p:txBody>
          <a:bodyPr/>
          <a:lstStyle/>
          <a:p>
            <a:r>
              <a:rPr lang="en-US" altLang="en-US" sz="2000"/>
              <a:t>Embedding quality greatly influences retrieval and downstream tasks.</a:t>
            </a:r>
            <a:endParaRPr lang="en-US" altLang="en-US" sz="2000"/>
          </a:p>
        </p:txBody>
      </p:sp>
      <p:sp>
        <p:nvSpPr>
          <p:cNvPr id="7" name="Text Box 6"/>
          <p:cNvSpPr txBox="1"/>
          <p:nvPr/>
        </p:nvSpPr>
        <p:spPr>
          <a:xfrm>
            <a:off x="963930" y="2734310"/>
            <a:ext cx="7378700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Choose models appropriate for task (sentence vs word).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Ensure enough context in chunks.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Avoid noise (bad text, formatting errors).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Evaluate embeddings on retrieval tasks where possible.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Train or fine-tune on domain data if generic models fail.</a:t>
            </a:r>
            <a:endParaRPr lang="en-US" altLang="en-US"/>
          </a:p>
        </p:txBody>
      </p:sp>
      <p:pic>
        <p:nvPicPr>
          <p:cNvPr id="8" name="Picture 7"/>
          <p:cNvPicPr/>
          <p:nvPr/>
        </p:nvPicPr>
        <p:blipFill>
          <a:blip r:embed="rId1"/>
          <a:stretch>
            <a:fillRect/>
          </a:stretch>
        </p:blipFill>
        <p:spPr>
          <a:xfrm>
            <a:off x="6931660" y="2311400"/>
            <a:ext cx="4542790" cy="382714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Multimodal Embeddings (Overview)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908685"/>
          </a:xfrm>
        </p:spPr>
        <p:txBody>
          <a:bodyPr/>
          <a:lstStyle/>
          <a:p>
            <a:r>
              <a:rPr lang="en-US" altLang="en-US" sz="2000"/>
              <a:t>Multimodal embeddings map different data types (text, image, audio, video) into a shared vector space so that semantic relationships can cross modalities</a:t>
            </a:r>
            <a:endParaRPr lang="en-US" altLang="en-US" sz="2000"/>
          </a:p>
        </p:txBody>
      </p:sp>
      <p:sp>
        <p:nvSpPr>
          <p:cNvPr id="7" name="Text Box 6"/>
          <p:cNvSpPr txBox="1"/>
          <p:nvPr/>
        </p:nvSpPr>
        <p:spPr>
          <a:xfrm>
            <a:off x="1151890" y="3288030"/>
            <a:ext cx="737870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Represent text and images together in the same space.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Useful for cross-modal search (text query → image results).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Enable richer semantic understanding beyond just text.</a:t>
            </a:r>
            <a:endParaRPr lang="en-US" altLang="en-US"/>
          </a:p>
        </p:txBody>
      </p:sp>
      <p:pic>
        <p:nvPicPr>
          <p:cNvPr id="4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7185025" y="2515870"/>
            <a:ext cx="4262755" cy="366712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Multimodal Embeddings (Overview)</a:t>
            </a:r>
            <a:endParaRPr lang="en-US" altLang="en-US"/>
          </a:p>
        </p:txBody>
      </p:sp>
      <p:pic>
        <p:nvPicPr>
          <p:cNvPr id="5" name="Picture 4"/>
          <p:cNvPicPr/>
          <p:nvPr/>
        </p:nvPicPr>
        <p:blipFill>
          <a:blip r:embed="rId1"/>
          <a:stretch>
            <a:fillRect/>
          </a:stretch>
        </p:blipFill>
        <p:spPr>
          <a:xfrm>
            <a:off x="2084070" y="2151063"/>
            <a:ext cx="7620000" cy="381952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3264</Words>
  <Application>WPS Presentation</Application>
  <PresentationFormat>宽屏</PresentationFormat>
  <Paragraphs>109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5" baseType="lpstr">
      <vt:lpstr>Arial</vt:lpstr>
      <vt:lpstr>SimSun</vt:lpstr>
      <vt:lpstr>Wingdings</vt:lpstr>
      <vt:lpstr>张海山锐线体2.0</vt:lpstr>
      <vt:lpstr>冬青黑体简体中文</vt:lpstr>
      <vt:lpstr>方正兰亭超细黑简体</vt:lpstr>
      <vt:lpstr>Century Gothic</vt:lpstr>
      <vt:lpstr>苹方-简</vt:lpstr>
      <vt:lpstr>Microsoft YaHei</vt:lpstr>
      <vt:lpstr>汉仪旗黑</vt:lpstr>
      <vt:lpstr>Arial Unicode MS</vt:lpstr>
      <vt:lpstr>等线 Light</vt:lpstr>
      <vt:lpstr>宋体-简</vt:lpstr>
      <vt:lpstr>等线</vt:lpstr>
      <vt:lpstr>Calibri</vt:lpstr>
      <vt:lpstr>Helvetica Neue</vt:lpstr>
      <vt:lpstr>Calibri</vt:lpstr>
      <vt:lpstr>Cordia New</vt:lpstr>
      <vt:lpstr>黑体-简</vt:lpstr>
      <vt:lpstr>Office 主题​​</vt:lpstr>
      <vt:lpstr>Example: AI Product Advisor (E-commerce)</vt:lpstr>
      <vt:lpstr>Example: AI Product Advisor (E-commerce)</vt:lpstr>
      <vt:lpstr>What Are Embeddings?</vt:lpstr>
      <vt:lpstr>What Are Embeddings?</vt:lpstr>
      <vt:lpstr>What Are Embeddings?</vt:lpstr>
      <vt:lpstr>Token vs Sentence vs Document Embeddings</vt:lpstr>
      <vt:lpstr>What Are Embeddings?</vt:lpstr>
      <vt:lpstr>What Are Embeddings?</vt:lpstr>
      <vt:lpstr>What Are Embeddings?</vt:lpstr>
      <vt:lpstr>What Are Embeddings?</vt:lpstr>
      <vt:lpstr>What Are Embeddings?</vt:lpstr>
      <vt:lpstr>Cosine Similarity &amp; Distance Metrics</vt:lpstr>
      <vt:lpstr>Embedding Pipelines</vt:lpstr>
      <vt:lpstr>Embedding Quality Considerations</vt:lpstr>
      <vt:lpstr>Multimodal Embeddings (Overview)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PC</dc:creator>
  <cp:lastModifiedBy>Something Diffrent</cp:lastModifiedBy>
  <cp:revision>59</cp:revision>
  <dcterms:created xsi:type="dcterms:W3CDTF">2026-02-25T08:22:37Z</dcterms:created>
  <dcterms:modified xsi:type="dcterms:W3CDTF">2026-02-25T08:22:37Z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1033-12.1.23155.23155</vt:lpwstr>
  </property>
  <property fmtid="{D5CDD505-2E9C-101B-9397-08002B2CF9AE}" pid="3" name="ICV">
    <vt:lpwstr>1FB65C649B73909901AC9E69CBBBAE57_41</vt:lpwstr>
  </property>
</Properties>
</file>